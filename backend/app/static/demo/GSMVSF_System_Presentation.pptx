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1 (30 giây):</a:t>
            </a:r>
          </a:p>
          <a:p>
            <a:r>
              <a:t>- Xin chào mọi người, hôm nay tôi xin trình bày hệ thống GSMVSF - Hệ thống điều phối và khuyến nghị trạm sạc xe điện thông minh theo thời gian thực dành cho đội xe GSM VinFast.</a:t>
            </a:r>
          </a:p>
          <a:p>
            <a:r>
              <a:t>- Bài toán cốt lõi: Không thể chỉ tìm trạm gần nhất theo khoảng cách chim bay, mà phải tính toán toàn diện tình trạng kẹt xe, hàng đợi tại trạm, loại pin của 19 dòng xe VinFast với độ trễ cực thấp dưới 200ms.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2 (45 giây):</a:t>
            </a:r>
          </a:p>
          <a:p>
            <a:r>
              <a:t>- Về mặt kiến trúc, hệ thống được thiết kế theo chuẩn 3-Tier với 6 container độc lập, đáp ứng tiêu chuẩn High Availability cho môi trường doanh nghiệp.</a:t>
            </a:r>
          </a:p>
          <a:p>
            <a:r>
              <a:t>- Tầng 1 là Nginx Load Balancer, đóng vai trò Reverse Proxy duy nhất.</a:t>
            </a:r>
          </a:p>
          <a:p>
            <a:r>
              <a:t>- Tầng 2 là cụm FastAPI kép không trạng thái (Dual Stateless Replicas). Nếu 1 replica gặp sự cố, Nginx tự động failover sang replica còn lại trong 0 mili-giây, đảm bảo hệ thống không bao giờ có điểm chết đơn lẻ (SPOF).</a:t>
            </a:r>
          </a:p>
          <a:p>
            <a:r>
              <a:t>- Tầng 3 là Persistence &amp; Computing gồm PostGIS, Redis Cache và routing engine GraphHopper 11.0 chạy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3 (45 giây):</a:t>
            </a:r>
          </a:p>
          <a:p>
            <a:r>
              <a:t>- Đây là pipeline 5 bước cốt lõi diễn ra mỗi khi xe phát sinh tọa độ hoặc mức pin thay đổi.</a:t>
            </a:r>
          </a:p>
          <a:p>
            <a:r>
              <a:t>- Bước 1: Map Matching khớp GPS vào tim đường.</a:t>
            </a:r>
          </a:p>
          <a:p>
            <a:r>
              <a:t>- Bước 2: Demand Physics tính xem xe còn đủ pin đến đích không.</a:t>
            </a:r>
          </a:p>
          <a:p>
            <a:r>
              <a:t>- Bước 3: Lọc nhanh các trạm không phù hợp (hết chỗ, không tương thích súng sạc).</a:t>
            </a:r>
          </a:p>
          <a:p>
            <a:r>
              <a:t>- Bước 4: GraphHopper tính đồng thời các cung đường từ xe ghé trạm rồi về đích.</a:t>
            </a:r>
          </a:p>
          <a:p>
            <a:r>
              <a:t>- Bước 5: Ranking bằng hàm chi phí thời gian thực để tìm ra trạm tối ưu nhất.</a:t>
            </a:r>
          </a:p>
          <a:p>
            <a:r>
              <a:t>- Cả quy trình 5 bước này hoàn tất chỉ trong 186 mili-giây.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4 (45 giây):</a:t>
            </a:r>
          </a:p>
          <a:p>
            <a:r>
              <a:t>- Hệ thống dựa trên 2 trụ cột thuật toán vững chắc:</a:t>
            </a:r>
          </a:p>
          <a:p>
            <a:r>
              <a:t>- Thứ nhất là Mô hình vật lý của 19 dòng xe VinFast: Tự động biết dòng nào cần sạc, dòng nào chỉ cần đổi pin trong 6 phút, và đảm bảo pin luôn an toàn khi về đến đích.</a:t>
            </a:r>
          </a:p>
          <a:p>
            <a:r>
              <a:t>- Thứ hai là Hàm chi phí tối ưu: Chi phí không phải khoảng cách, mà là TỔNG THỜI GIAN. Bao gồm: Thời gian đi đường vòng + Thời gian sạc + Thời gian chờ xếp hàng + Độ trễ kẹt xe. Vì thế hệ thống luôn chọn phương án tài xế được quay lại đón khách nhanh nhất.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5 (45 giây):</a:t>
            </a:r>
          </a:p>
          <a:p>
            <a:r>
              <a:t>- Hai bài toán lớn trong vận hành thực tế là: Kẹt xe trên đường và Quá tải tại trạm sạc.</a:t>
            </a:r>
          </a:p>
          <a:p>
            <a:r>
              <a:t>- Về kẹt xe: Chúng tôi dùng Custom Model trong GraphHopper để phạt trọng số các đường đỏ, xe tự động đi vòng đường thoáng hơn để tiết kiệm thời gian.</a:t>
            </a:r>
          </a:p>
          <a:p>
            <a:r>
              <a:t>- Về trạm sạc: Chúng tôi triệt tiêu hiệu ứng 'dồn toa'. Khi 1 trạm có nhiều xe đang chờ, chi phí hàng đợi tăng lên làm trạm tự tụt hạng, các xe sau sẽ tự động được chia đều sang các trạm lân cận còn trống.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6 (45 giây):</a:t>
            </a:r>
          </a:p>
          <a:p>
            <a:r>
              <a:t>- Đây là bằng chứng số liệu kỹ thuật thể hiện độ tin cậy của hệ thống:</a:t>
            </a:r>
          </a:p>
          <a:p>
            <a:r>
              <a:t>- Độ trễ P50 chỉ 186.4 mili-giây, giảm gần 40% nhờ xử lý đa luồng 8 routes song song.</a:t>
            </a:r>
          </a:p>
          <a:p>
            <a:r>
              <a:t>- Toàn bộ 394 unit/integration tests và 22 kịch bản chuẩn đều đạt 100% PASS.</a:t>
            </a:r>
          </a:p>
          <a:p>
            <a:r>
              <a:t>- Khi test chịu tải với 50 tài xế ảo và chủ động tắt 1 container API, tỷ lệ lỗi vẫn là 0% nhờ cơ chế failover tự động của Nginx.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SLIDE 7 (30 giây):</a:t>
            </a:r>
          </a:p>
          <a:p>
            <a:r>
              <a:t>- Cuối cùng, toàn bộ sức mạnh hệ thống được gói gọn trong giao diện Buồng lái Tài xế rất trực quan với 3 mức cảnh báo Pin (Xanh - Vàng - Đỏ), cùng chế độ Giám sát toàn mạng lưới 30 trạm sạc.</a:t>
            </a:r>
          </a:p>
          <a:p>
            <a:r>
              <a:t>- Hệ thống đã hoàn thiện, đã kiểm chứng thực tế và sẵn sàng cho việc triển khai vào vận hành. Xin cảm ơn và tôi sẵn sàng trả lời các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4114800" cy="41148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99032"/>
            <a:ext cx="3931920" cy="365760"/>
          </a:xfrm>
          <a:prstGeom prst="rect">
            <a:avLst/>
          </a:prstGeom>
          <a:noFill/>
        </p:spPr>
        <p:txBody>
          <a:bodyPr wrap="none">
            <a:spAutoFit/>
          </a:bodyPr>
          <a:lstStyle/>
          <a:p>
            <a:pPr>
              <a:defRPr sz="1000" b="1">
                <a:solidFill>
                  <a:srgbClr val="059669"/>
                </a:solidFill>
              </a:defRPr>
            </a:pPr>
            <a:r>
              <a:t>HỆ THỐNG ĐIỀU PHỐI ĐỘI XE ĐIỆN GSM / VINFAST</a:t>
            </a:r>
          </a:p>
        </p:txBody>
      </p:sp>
      <p:sp>
        <p:nvSpPr>
          <p:cNvPr id="5" name="TextBox 4"/>
          <p:cNvSpPr txBox="1"/>
          <p:nvPr/>
        </p:nvSpPr>
        <p:spPr>
          <a:xfrm>
            <a:off x="731520" y="2011680"/>
            <a:ext cx="10698480" cy="1645920"/>
          </a:xfrm>
          <a:prstGeom prst="rect">
            <a:avLst/>
          </a:prstGeom>
          <a:noFill/>
        </p:spPr>
        <p:txBody>
          <a:bodyPr wrap="square">
            <a:spAutoFit/>
          </a:bodyPr>
          <a:lstStyle/>
          <a:p>
            <a:pPr>
              <a:defRPr sz="3600" b="1">
                <a:solidFill>
                  <a:srgbClr val="FFFFFF"/>
                </a:solidFill>
              </a:defRPr>
            </a:pPr>
            <a:r>
              <a:t>GSMVSF: EV Dynamic Charging</a:t>
            </a:r>
            <a:br/>
            <a:r>
              <a:t>Recommendation &amp; Routing Engine</a:t>
            </a:r>
          </a:p>
        </p:txBody>
      </p:sp>
      <p:sp>
        <p:nvSpPr>
          <p:cNvPr id="6" name="TextBox 5"/>
          <p:cNvSpPr txBox="1"/>
          <p:nvPr/>
        </p:nvSpPr>
        <p:spPr>
          <a:xfrm>
            <a:off x="731520" y="3931920"/>
            <a:ext cx="9601200" cy="731520"/>
          </a:xfrm>
          <a:prstGeom prst="rect">
            <a:avLst/>
          </a:prstGeom>
          <a:noFill/>
        </p:spPr>
        <p:txBody>
          <a:bodyPr wrap="square">
            <a:spAutoFit/>
          </a:bodyPr>
          <a:lstStyle/>
          <a:p>
            <a:pPr>
              <a:defRPr sz="1500">
                <a:solidFill>
                  <a:srgbClr val="CBD5E1"/>
                </a:solidFill>
              </a:defRPr>
            </a:pPr>
            <a:r>
              <a:t>Hệ thống khuyến nghị trạm sạc &amp; tủ đổi pin thời gian thực: Tối ưu chi phí toàn diện (kẹt xe, hàng đợi, công suất sạc) với kiến trúc chịu lỗi cao (HA Multi-Replica) và độ trễ phản hồi &lt; 190ms.</a:t>
            </a:r>
          </a:p>
        </p:txBody>
      </p:sp>
      <p:sp>
        <p:nvSpPr>
          <p:cNvPr id="7" name="Rounded Rectangle 6"/>
          <p:cNvSpPr/>
          <p:nvPr/>
        </p:nvSpPr>
        <p:spPr>
          <a:xfrm>
            <a:off x="73152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57800"/>
            <a:ext cx="2286000" cy="822960"/>
          </a:xfrm>
          <a:prstGeom prst="rect">
            <a:avLst/>
          </a:prstGeom>
          <a:noFill/>
        </p:spPr>
        <p:txBody>
          <a:bodyPr wrap="square">
            <a:spAutoFit/>
          </a:bodyPr>
          <a:lstStyle/>
          <a:p>
            <a:pPr>
              <a:defRPr sz="1300" b="1">
                <a:solidFill>
                  <a:srgbClr val="059669"/>
                </a:solidFill>
              </a:defRPr>
            </a:pPr>
            <a:r>
              <a:t>3-Tier High Availability</a:t>
            </a:r>
          </a:p>
          <a:p>
            <a:pPr>
              <a:defRPr sz="1000">
                <a:solidFill>
                  <a:srgbClr val="94A3B8"/>
                </a:solidFill>
              </a:defRPr>
            </a:pPr>
            <a:r>
              <a:t>Dual API Replicas + Nginx Failover</a:t>
            </a:r>
          </a:p>
        </p:txBody>
      </p:sp>
      <p:sp>
        <p:nvSpPr>
          <p:cNvPr id="9" name="Rounded Rectangle 8"/>
          <p:cNvSpPr/>
          <p:nvPr/>
        </p:nvSpPr>
        <p:spPr>
          <a:xfrm>
            <a:off x="342900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5257800"/>
            <a:ext cx="2286000" cy="822960"/>
          </a:xfrm>
          <a:prstGeom prst="rect">
            <a:avLst/>
          </a:prstGeom>
          <a:noFill/>
        </p:spPr>
        <p:txBody>
          <a:bodyPr wrap="square">
            <a:spAutoFit/>
          </a:bodyPr>
          <a:lstStyle/>
          <a:p>
            <a:pPr>
              <a:defRPr sz="1300" b="1">
                <a:solidFill>
                  <a:srgbClr val="059669"/>
                </a:solidFill>
              </a:defRPr>
            </a:pPr>
            <a:r>
              <a:t>Độ trễ P50 &lt; 190ms</a:t>
            </a:r>
          </a:p>
          <a:p>
            <a:pPr>
              <a:defRPr sz="1000">
                <a:solidFill>
                  <a:srgbClr val="94A3B8"/>
                </a:solidFill>
              </a:defRPr>
            </a:pPr>
            <a:r>
              <a:t>Concurrent Routing 8x qua GraphHopper 11.0</a:t>
            </a:r>
          </a:p>
        </p:txBody>
      </p:sp>
      <p:sp>
        <p:nvSpPr>
          <p:cNvPr id="11" name="Rounded Rectangle 10"/>
          <p:cNvSpPr/>
          <p:nvPr/>
        </p:nvSpPr>
        <p:spPr>
          <a:xfrm>
            <a:off x="612648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5257800"/>
            <a:ext cx="2286000" cy="822960"/>
          </a:xfrm>
          <a:prstGeom prst="rect">
            <a:avLst/>
          </a:prstGeom>
          <a:noFill/>
        </p:spPr>
        <p:txBody>
          <a:bodyPr wrap="square">
            <a:spAutoFit/>
          </a:bodyPr>
          <a:lstStyle/>
          <a:p>
            <a:pPr>
              <a:defRPr sz="1300" b="1">
                <a:solidFill>
                  <a:srgbClr val="059669"/>
                </a:solidFill>
              </a:defRPr>
            </a:pPr>
            <a:r>
              <a:t>19 Dòng xe VinFast</a:t>
            </a:r>
          </a:p>
          <a:p>
            <a:pPr>
              <a:defRPr sz="1000">
                <a:solidFill>
                  <a:srgbClr val="94A3B8"/>
                </a:solidFill>
              </a:defRPr>
            </a:pPr>
            <a:r>
              <a:t>Mô hình vật lý tiêu thụ pin &amp; an toàn SOC</a:t>
            </a:r>
          </a:p>
        </p:txBody>
      </p:sp>
      <p:sp>
        <p:nvSpPr>
          <p:cNvPr id="13" name="Rounded Rectangle 12"/>
          <p:cNvSpPr/>
          <p:nvPr/>
        </p:nvSpPr>
        <p:spPr>
          <a:xfrm>
            <a:off x="8823960" y="5120640"/>
            <a:ext cx="25603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5257800"/>
            <a:ext cx="2286000" cy="822960"/>
          </a:xfrm>
          <a:prstGeom prst="rect">
            <a:avLst/>
          </a:prstGeom>
          <a:noFill/>
        </p:spPr>
        <p:txBody>
          <a:bodyPr wrap="square">
            <a:spAutoFit/>
          </a:bodyPr>
          <a:lstStyle/>
          <a:p>
            <a:pPr>
              <a:defRPr sz="1300" b="1">
                <a:solidFill>
                  <a:srgbClr val="059669"/>
                </a:solidFill>
              </a:defRPr>
            </a:pPr>
            <a:r>
              <a:t>100% Test Coverage</a:t>
            </a:r>
          </a:p>
          <a:p>
            <a:pPr>
              <a:defRPr sz="1000">
                <a:solidFill>
                  <a:srgbClr val="94A3B8"/>
                </a:solidFill>
              </a:defRPr>
            </a:pPr>
            <a:r>
              <a:t>394 Automated Tests + 22 Scenarios chuẩn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KIẾN TRÚC &amp; HỆ THỐNG</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Kiến trúc Hệ thống 3 Tầng &amp; Chịu Lỗi Cao (High Availability)</a:t>
            </a:r>
          </a:p>
        </p:txBody>
      </p:sp>
      <p:sp>
        <p:nvSpPr>
          <p:cNvPr id="5" name="Rounded Rectangle 4"/>
          <p:cNvSpPr/>
          <p:nvPr/>
        </p:nvSpPr>
        <p:spPr>
          <a:xfrm>
            <a:off x="731520" y="1371600"/>
            <a:ext cx="347472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108960" cy="3840480"/>
          </a:xfrm>
          <a:prstGeom prst="rect">
            <a:avLst/>
          </a:prstGeom>
          <a:noFill/>
        </p:spPr>
        <p:txBody>
          <a:bodyPr wrap="square">
            <a:spAutoFit/>
          </a:bodyPr>
          <a:lstStyle/>
          <a:p>
            <a:pPr>
              <a:defRPr sz="1000" b="1">
                <a:solidFill>
                  <a:srgbClr val="2563EB"/>
                </a:solidFill>
              </a:defRPr>
            </a:pPr>
            <a:r>
              <a:t>TIER 1: PRESENTATION &amp; PROXY</a:t>
            </a:r>
          </a:p>
          <a:p>
            <a:pPr>
              <a:defRPr sz="1500" b="1">
                <a:solidFill>
                  <a:srgbClr val="0F172A"/>
                </a:solidFill>
              </a:defRPr>
            </a:pPr>
            <a:r>
              <a:t>Nginx Reverse Proxy &amp; Load Balancer</a:t>
            </a:r>
          </a:p>
          <a:p>
            <a:pPr>
              <a:defRPr sz="1000" i="1">
                <a:solidFill>
                  <a:srgbClr val="64748B"/>
                </a:solidFill>
              </a:defRPr>
            </a:pPr>
            <a:r>
              <a:t>Port 3000 (Container: ev_frontend)</a:t>
            </a:r>
          </a:p>
          <a:p/>
          <a:p>
            <a:pPr>
              <a:defRPr sz="1100">
                <a:solidFill>
                  <a:srgbClr val="1E293B"/>
                </a:solidFill>
              </a:defRPr>
            </a:pPr>
            <a:r>
              <a:t>•  Cân bằng tải thuật toán least_conn</a:t>
            </a:r>
          </a:p>
          <a:p>
            <a:pPr>
              <a:defRPr sz="1100">
                <a:solidFill>
                  <a:srgbClr val="1E293B"/>
                </a:solidFill>
              </a:defRPr>
            </a:pPr>
            <a:r>
              <a:t>•  Chuyển mạch chịu lỗi tức thì (proxy_next_upstream)</a:t>
            </a:r>
          </a:p>
          <a:p>
            <a:pPr>
              <a:defRPr sz="1100">
                <a:solidFill>
                  <a:srgbClr val="1E293B"/>
                </a:solidFill>
              </a:defRPr>
            </a:pPr>
            <a:r>
              <a:t>•  Host giao diện Cockpit UI &amp; Demo SPA</a:t>
            </a:r>
          </a:p>
          <a:p>
            <a:pPr>
              <a:defRPr sz="1100">
                <a:solidFill>
                  <a:srgbClr val="1E293B"/>
                </a:solidFill>
              </a:defRPr>
            </a:pPr>
            <a:r>
              <a:t>•  Nén Gzip &amp; tối ưu tài nguyên tĩnh</a:t>
            </a:r>
          </a:p>
        </p:txBody>
      </p:sp>
      <p:sp>
        <p:nvSpPr>
          <p:cNvPr id="7" name="Rounded Rectangle 6"/>
          <p:cNvSpPr/>
          <p:nvPr/>
        </p:nvSpPr>
        <p:spPr>
          <a:xfrm>
            <a:off x="4343400" y="1371600"/>
            <a:ext cx="347472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08760"/>
            <a:ext cx="3108960" cy="3840480"/>
          </a:xfrm>
          <a:prstGeom prst="rect">
            <a:avLst/>
          </a:prstGeom>
          <a:noFill/>
        </p:spPr>
        <p:txBody>
          <a:bodyPr wrap="square">
            <a:spAutoFit/>
          </a:bodyPr>
          <a:lstStyle/>
          <a:p>
            <a:pPr>
              <a:defRPr sz="1000" b="1">
                <a:solidFill>
                  <a:srgbClr val="059669"/>
                </a:solidFill>
              </a:defRPr>
            </a:pPr>
            <a:r>
              <a:t>TIER 2: APPLICATION CLUSTER (STATELESS)</a:t>
            </a:r>
          </a:p>
          <a:p>
            <a:pPr>
              <a:defRPr sz="1500" b="1">
                <a:solidFill>
                  <a:srgbClr val="0F172A"/>
                </a:solidFill>
              </a:defRPr>
            </a:pPr>
            <a:r>
              <a:t>Dual FastAPI Replicas</a:t>
            </a:r>
          </a:p>
          <a:p>
            <a:pPr>
              <a:defRPr sz="1000" i="1">
                <a:solidFill>
                  <a:srgbClr val="64748B"/>
                </a:solidFill>
              </a:defRPr>
            </a:pPr>
            <a:r>
              <a:t>api_1 (:8000) &amp; api_2 (:8002)</a:t>
            </a:r>
          </a:p>
          <a:p/>
          <a:p>
            <a:pPr>
              <a:defRPr sz="1100">
                <a:solidFill>
                  <a:srgbClr val="1E293B"/>
                </a:solidFill>
              </a:defRPr>
            </a:pPr>
            <a:r>
              <a:t>•  2 Instance độc lập: 1 instance sập -&gt; 0s downtime</a:t>
            </a:r>
          </a:p>
          <a:p>
            <a:pPr>
              <a:defRPr sz="1100">
                <a:solidFill>
                  <a:srgbClr val="1E293B"/>
                </a:solidFill>
              </a:defRPr>
            </a:pPr>
            <a:r>
              <a:t>•  Modular Monolith: In-process memory (Sub-200ms)</a:t>
            </a:r>
          </a:p>
          <a:p>
            <a:pPr>
              <a:defRPr sz="1100">
                <a:solidFill>
                  <a:srgbClr val="1E293B"/>
                </a:solidFill>
              </a:defRPr>
            </a:pPr>
            <a:r>
              <a:t>•  Demand Physics + Spatial Filtering + Ranking</a:t>
            </a:r>
          </a:p>
          <a:p>
            <a:pPr>
              <a:defRPr sz="1100">
                <a:solidFill>
                  <a:srgbClr val="1E293B"/>
                </a:solidFill>
              </a:defRPr>
            </a:pPr>
            <a:r>
              <a:t>•  Đồng bộ trạng thái tài xế qua Redis CAS Optimistic</a:t>
            </a:r>
          </a:p>
        </p:txBody>
      </p:sp>
      <p:sp>
        <p:nvSpPr>
          <p:cNvPr id="9" name="Rounded Rectangle 8"/>
          <p:cNvSpPr/>
          <p:nvPr/>
        </p:nvSpPr>
        <p:spPr>
          <a:xfrm>
            <a:off x="7955280" y="1371600"/>
            <a:ext cx="3474720" cy="41148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3108960" cy="3840480"/>
          </a:xfrm>
          <a:prstGeom prst="rect">
            <a:avLst/>
          </a:prstGeom>
          <a:noFill/>
        </p:spPr>
        <p:txBody>
          <a:bodyPr wrap="square">
            <a:spAutoFit/>
          </a:bodyPr>
          <a:lstStyle/>
          <a:p>
            <a:pPr>
              <a:defRPr sz="1000" b="1">
                <a:solidFill>
                  <a:srgbClr val="0F172A"/>
                </a:solidFill>
              </a:defRPr>
            </a:pPr>
            <a:r>
              <a:t>TIER 3: PERSISTENCE &amp; COMPUTING</a:t>
            </a:r>
          </a:p>
          <a:p>
            <a:pPr>
              <a:defRPr sz="1500" b="1">
                <a:solidFill>
                  <a:srgbClr val="0F172A"/>
                </a:solidFill>
              </a:defRPr>
            </a:pPr>
            <a:r>
              <a:t>Data Storage &amp; Routing Core</a:t>
            </a:r>
          </a:p>
          <a:p>
            <a:pPr>
              <a:defRPr sz="1000" i="1">
                <a:solidFill>
                  <a:srgbClr val="64748B"/>
                </a:solidFill>
              </a:defRPr>
            </a:pPr>
            <a:r>
              <a:t>PostgreSQL 16, Redis 7.4, GraphHopper 11</a:t>
            </a:r>
          </a:p>
          <a:p/>
          <a:p>
            <a:pPr>
              <a:defRPr sz="1100">
                <a:solidFill>
                  <a:srgbClr val="1E293B"/>
                </a:solidFill>
              </a:defRPr>
            </a:pPr>
            <a:r>
              <a:t>•  PostgreSQL 16 + PostGIS: Bản đồ đường &amp; Snapshot DB</a:t>
            </a:r>
          </a:p>
          <a:p>
            <a:pPr>
              <a:defRPr sz="1100">
                <a:solidFill>
                  <a:srgbClr val="1E293B"/>
                </a:solidFill>
              </a:defRPr>
            </a:pPr>
            <a:r>
              <a:t>•  Redis 7.4 Alpine: L1 Snapshot Cache + Driver State</a:t>
            </a:r>
          </a:p>
          <a:p>
            <a:pPr>
              <a:defRPr sz="1100">
                <a:solidFill>
                  <a:srgbClr val="1E293B"/>
                </a:solidFill>
              </a:defRPr>
            </a:pPr>
            <a:r>
              <a:t>•  GraphHopper 11.0 (Java 21): Routing &amp; Map Matching</a:t>
            </a:r>
          </a:p>
          <a:p>
            <a:pPr>
              <a:defRPr sz="1100">
                <a:solidFill>
                  <a:srgbClr val="1E293B"/>
                </a:solidFill>
              </a:defRPr>
            </a:pPr>
            <a:r>
              <a:t>•  Dữ liệu an toàn tuyệt đối với Docker Volume độc lập</a:t>
            </a:r>
          </a:p>
        </p:txBody>
      </p:sp>
      <p:sp>
        <p:nvSpPr>
          <p:cNvPr id="11" name="Rounded Rectangle 10"/>
          <p:cNvSpPr/>
          <p:nvPr/>
        </p:nvSpPr>
        <p:spPr>
          <a:xfrm>
            <a:off x="731520" y="5623560"/>
            <a:ext cx="10698480" cy="731520"/>
          </a:xfrm>
          <a:prstGeom prst="roundRect">
            <a:avLst/>
          </a:prstGeom>
          <a:solidFill>
            <a:srgbClr val="EE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15000"/>
            <a:ext cx="10332720" cy="548640"/>
          </a:xfrm>
          <a:prstGeom prst="rect">
            <a:avLst/>
          </a:prstGeom>
          <a:noFill/>
        </p:spPr>
        <p:txBody>
          <a:bodyPr wrap="square">
            <a:spAutoFit/>
          </a:bodyPr>
          <a:lstStyle/>
          <a:p>
            <a:pPr>
              <a:defRPr sz="1150" b="1">
                <a:solidFill>
                  <a:srgbClr val="2563EB"/>
                </a:solidFill>
              </a:defRPr>
            </a:pPr>
            <a:r>
              <a:t>ĐIỂM SÁNG KIẾN TRÚC: Hệ thống không gộp vào 1 container mà tách biệt 6 container riêng rẽ. Nếu replica api_1 gặp sự cố sập hoặc bảo trì, Nginx lập tức định tuyến 100% sang api_2 mà tài xế hoàn toàn không cảm nhận thấy gián đoạn.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KIẾN TRÚC &amp; HỆ THỐNG</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Pipeline Xử lý Realtime: Từ GPS đến Đề xuất Trạm Tối ưu</a:t>
            </a:r>
          </a:p>
        </p:txBody>
      </p:sp>
      <p:sp>
        <p:nvSpPr>
          <p:cNvPr id="5" name="Rounded Rectangle 4"/>
          <p:cNvSpPr/>
          <p:nvPr/>
        </p:nvSpPr>
        <p:spPr>
          <a:xfrm>
            <a:off x="731520" y="1371600"/>
            <a:ext cx="205740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508760"/>
            <a:ext cx="1837944" cy="3840480"/>
          </a:xfrm>
          <a:prstGeom prst="rect">
            <a:avLst/>
          </a:prstGeom>
          <a:noFill/>
        </p:spPr>
        <p:txBody>
          <a:bodyPr wrap="square">
            <a:spAutoFit/>
          </a:bodyPr>
          <a:lstStyle/>
          <a:p>
            <a:pPr>
              <a:defRPr sz="1100" b="1">
                <a:solidFill>
                  <a:srgbClr val="2563EB"/>
                </a:solidFill>
              </a:defRPr>
            </a:pPr>
            <a:r>
              <a:t>BƯỚC 1</a:t>
            </a:r>
          </a:p>
          <a:p>
            <a:pPr>
              <a:defRPr sz="1500" b="1">
                <a:solidFill>
                  <a:srgbClr val="0F172A"/>
                </a:solidFill>
              </a:defRPr>
            </a:pPr>
            <a:r>
              <a:t>Map Matching</a:t>
            </a:r>
          </a:p>
          <a:p>
            <a:pPr>
              <a:defRPr sz="1000" b="1">
                <a:solidFill>
                  <a:srgbClr val="2563EB"/>
                </a:solidFill>
              </a:defRPr>
            </a:pPr>
            <a:r>
              <a:t>PostGIS + GH 11</a:t>
            </a:r>
          </a:p>
          <a:p/>
          <a:p>
            <a:pPr>
              <a:defRPr sz="1000" b="1">
                <a:solidFill>
                  <a:srgbClr val="64748B"/>
                </a:solidFill>
              </a:defRPr>
            </a:pPr>
            <a:r>
              <a:t>ĐỊNH VỊ TIM ĐƯỜNG</a:t>
            </a:r>
          </a:p>
          <a:p>
            <a:pPr>
              <a:defRPr sz="1100">
                <a:solidFill>
                  <a:srgbClr val="1E293B"/>
                </a:solidFill>
              </a:defRPr>
            </a:pPr>
            <a:r>
              <a:t>Thuật toán HybridTrigger (10s/50m) khớp GPS thô vào đúng làn và hướng đường Hà Nội (98.8% chính xác).</a:t>
            </a:r>
          </a:p>
        </p:txBody>
      </p:sp>
      <p:sp>
        <p:nvSpPr>
          <p:cNvPr id="7" name="Rounded Rectangle 6"/>
          <p:cNvSpPr/>
          <p:nvPr/>
        </p:nvSpPr>
        <p:spPr>
          <a:xfrm>
            <a:off x="2907791" y="1371600"/>
            <a:ext cx="205740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9" y="1508760"/>
            <a:ext cx="1837944" cy="3840480"/>
          </a:xfrm>
          <a:prstGeom prst="rect">
            <a:avLst/>
          </a:prstGeom>
          <a:noFill/>
        </p:spPr>
        <p:txBody>
          <a:bodyPr wrap="square">
            <a:spAutoFit/>
          </a:bodyPr>
          <a:lstStyle/>
          <a:p>
            <a:pPr>
              <a:defRPr sz="1100" b="1">
                <a:solidFill>
                  <a:srgbClr val="059669"/>
                </a:solidFill>
              </a:defRPr>
            </a:pPr>
            <a:r>
              <a:t>BƯỚC 2</a:t>
            </a:r>
          </a:p>
          <a:p>
            <a:pPr>
              <a:defRPr sz="1500" b="1">
                <a:solidFill>
                  <a:srgbClr val="0F172A"/>
                </a:solidFill>
              </a:defRPr>
            </a:pPr>
            <a:r>
              <a:t>Demand Physics</a:t>
            </a:r>
          </a:p>
          <a:p>
            <a:pPr>
              <a:defRPr sz="1000" b="1">
                <a:solidFill>
                  <a:srgbClr val="059669"/>
                </a:solidFill>
              </a:defRPr>
            </a:pPr>
            <a:r>
              <a:t>19 Dòng xe VF</a:t>
            </a:r>
          </a:p>
          <a:p/>
          <a:p>
            <a:pPr>
              <a:defRPr sz="1000" b="1">
                <a:solidFill>
                  <a:srgbClr val="64748B"/>
                </a:solidFill>
              </a:defRPr>
            </a:pPr>
            <a:r>
              <a:t>PHÂN TÍCH NHU CẦU</a:t>
            </a:r>
          </a:p>
          <a:p>
            <a:pPr>
              <a:defRPr sz="1100">
                <a:solidFill>
                  <a:srgbClr val="1E293B"/>
                </a:solidFill>
              </a:defRPr>
            </a:pPr>
            <a:r>
              <a:t>Tính toán tiêu hao năng lượng vật lý, kiểm tra pin dự phòng tới điểm hẹn; phân loại sạc pin hay đổi pin.</a:t>
            </a:r>
          </a:p>
        </p:txBody>
      </p:sp>
      <p:sp>
        <p:nvSpPr>
          <p:cNvPr id="9" name="Rounded Rectangle 8"/>
          <p:cNvSpPr/>
          <p:nvPr/>
        </p:nvSpPr>
        <p:spPr>
          <a:xfrm>
            <a:off x="5084064" y="1371600"/>
            <a:ext cx="2057400"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792" y="1508760"/>
            <a:ext cx="1837944" cy="3840480"/>
          </a:xfrm>
          <a:prstGeom prst="rect">
            <a:avLst/>
          </a:prstGeom>
          <a:noFill/>
        </p:spPr>
        <p:txBody>
          <a:bodyPr wrap="square">
            <a:spAutoFit/>
          </a:bodyPr>
          <a:lstStyle/>
          <a:p>
            <a:pPr>
              <a:defRPr sz="1100" b="1">
                <a:solidFill>
                  <a:srgbClr val="D97706"/>
                </a:solidFill>
              </a:defRPr>
            </a:pPr>
            <a:r>
              <a:t>BƯỚC 3</a:t>
            </a:r>
          </a:p>
          <a:p>
            <a:pPr>
              <a:defRPr sz="1500" b="1">
                <a:solidFill>
                  <a:srgbClr val="0F172A"/>
                </a:solidFill>
              </a:defRPr>
            </a:pPr>
            <a:r>
              <a:t>Candidate Search</a:t>
            </a:r>
          </a:p>
          <a:p>
            <a:pPr>
              <a:defRPr sz="1000" b="1">
                <a:solidFill>
                  <a:srgbClr val="D97706"/>
                </a:solidFill>
              </a:defRPr>
            </a:pPr>
            <a:r>
              <a:t>Spatial Pruning</a:t>
            </a:r>
          </a:p>
          <a:p/>
          <a:p>
            <a:pPr>
              <a:defRPr sz="1000" b="1">
                <a:solidFill>
                  <a:srgbClr val="64748B"/>
                </a:solidFill>
              </a:defRPr>
            </a:pPr>
            <a:r>
              <a:t>LỌC KHÔNG GIAN</a:t>
            </a:r>
          </a:p>
          <a:p>
            <a:pPr>
              <a:defRPr sz="1100">
                <a:solidFill>
                  <a:srgbClr val="1E293B"/>
                </a:solidFill>
              </a:defRPr>
            </a:pPr>
            <a:r>
              <a:t>Quét 30 trạm sạc, lọc ngay trạm hỏng, hết pin đổi, hoặc không tương thích chuẩn cổng trước khi routing.</a:t>
            </a:r>
          </a:p>
        </p:txBody>
      </p:sp>
      <p:sp>
        <p:nvSpPr>
          <p:cNvPr id="11" name="Rounded Rectangle 10"/>
          <p:cNvSpPr/>
          <p:nvPr/>
        </p:nvSpPr>
        <p:spPr>
          <a:xfrm>
            <a:off x="7260336" y="1371600"/>
            <a:ext cx="2057400" cy="41148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1508760"/>
            <a:ext cx="1837944" cy="3840480"/>
          </a:xfrm>
          <a:prstGeom prst="rect">
            <a:avLst/>
          </a:prstGeom>
          <a:noFill/>
        </p:spPr>
        <p:txBody>
          <a:bodyPr wrap="square">
            <a:spAutoFit/>
          </a:bodyPr>
          <a:lstStyle/>
          <a:p>
            <a:pPr>
              <a:defRPr sz="1100" b="1">
                <a:solidFill>
                  <a:srgbClr val="0F172A"/>
                </a:solidFill>
              </a:defRPr>
            </a:pPr>
            <a:r>
              <a:t>BƯỚC 4</a:t>
            </a:r>
          </a:p>
          <a:p>
            <a:pPr>
              <a:defRPr sz="1500" b="1">
                <a:solidFill>
                  <a:srgbClr val="0F172A"/>
                </a:solidFill>
              </a:defRPr>
            </a:pPr>
            <a:r>
              <a:t>Multi-Leg Route</a:t>
            </a:r>
          </a:p>
          <a:p>
            <a:pPr>
              <a:defRPr sz="1000" b="1">
                <a:solidFill>
                  <a:srgbClr val="0F172A"/>
                </a:solidFill>
              </a:defRPr>
            </a:pPr>
            <a:r>
              <a:t>GraphHopper Core</a:t>
            </a:r>
          </a:p>
          <a:p/>
          <a:p>
            <a:pPr>
              <a:defRPr sz="1000" b="1">
                <a:solidFill>
                  <a:srgbClr val="64748B"/>
                </a:solidFill>
              </a:defRPr>
            </a:pPr>
            <a:r>
              <a:t>ĐỊNH TUYẾN 2 CHẶNG</a:t>
            </a:r>
          </a:p>
          <a:p>
            <a:pPr>
              <a:defRPr sz="1100">
                <a:solidFill>
                  <a:srgbClr val="1E293B"/>
                </a:solidFill>
              </a:defRPr>
            </a:pPr>
            <a:r>
              <a:t>Tính đồng thời 8 route (Xe -&gt; Trạm -&gt; Đích) theo mạng lưới đường bộ thực tế thay vì đường chim bay.</a:t>
            </a:r>
          </a:p>
        </p:txBody>
      </p:sp>
      <p:sp>
        <p:nvSpPr>
          <p:cNvPr id="13" name="Rounded Rectangle 12"/>
          <p:cNvSpPr/>
          <p:nvPr/>
        </p:nvSpPr>
        <p:spPr>
          <a:xfrm>
            <a:off x="9436608" y="1371600"/>
            <a:ext cx="2057400" cy="411480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1508760"/>
            <a:ext cx="1837944" cy="3840480"/>
          </a:xfrm>
          <a:prstGeom prst="rect">
            <a:avLst/>
          </a:prstGeom>
          <a:noFill/>
        </p:spPr>
        <p:txBody>
          <a:bodyPr wrap="square">
            <a:spAutoFit/>
          </a:bodyPr>
          <a:lstStyle/>
          <a:p>
            <a:pPr>
              <a:defRPr sz="1100" b="1">
                <a:solidFill>
                  <a:srgbClr val="DC2626"/>
                </a:solidFill>
              </a:defRPr>
            </a:pPr>
            <a:r>
              <a:t>BƯỚC 5</a:t>
            </a:r>
          </a:p>
          <a:p>
            <a:pPr>
              <a:defRPr sz="1500" b="1">
                <a:solidFill>
                  <a:srgbClr val="0F172A"/>
                </a:solidFill>
              </a:defRPr>
            </a:pPr>
            <a:r>
              <a:t>Snapshot Ranking</a:t>
            </a:r>
          </a:p>
          <a:p>
            <a:pPr>
              <a:defRPr sz="1000" b="1">
                <a:solidFill>
                  <a:srgbClr val="DC2626"/>
                </a:solidFill>
              </a:defRPr>
            </a:pPr>
            <a:r>
              <a:t>Cost Function V1</a:t>
            </a:r>
          </a:p>
          <a:p/>
          <a:p>
            <a:pPr>
              <a:defRPr sz="1000" b="1">
                <a:solidFill>
                  <a:srgbClr val="64748B"/>
                </a:solidFill>
              </a:defRPr>
            </a:pPr>
            <a:r>
              <a:t>XẾP HẠNG TOÀN DIỆN</a:t>
            </a:r>
          </a:p>
          <a:p>
            <a:pPr>
              <a:defRPr sz="1100">
                <a:solidFill>
                  <a:srgbClr val="1E293B"/>
                </a:solidFill>
              </a:defRPr>
            </a:pPr>
            <a:r>
              <a:t>Tính tổng thời gian: Đi đường + Chờ sạc + Độ trễ kẹt xe thực tế -&gt; Trả về Top 1 và các phương án phụ.</a:t>
            </a:r>
          </a:p>
        </p:txBody>
      </p:sp>
      <p:sp>
        <p:nvSpPr>
          <p:cNvPr id="15" name="Rounded Rectangle 14"/>
          <p:cNvSpPr/>
          <p:nvPr/>
        </p:nvSpPr>
        <p:spPr>
          <a:xfrm>
            <a:off x="731520" y="5623560"/>
            <a:ext cx="10698480" cy="7315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715000"/>
            <a:ext cx="10332720" cy="548640"/>
          </a:xfrm>
          <a:prstGeom prst="rect">
            <a:avLst/>
          </a:prstGeom>
          <a:noFill/>
        </p:spPr>
        <p:txBody>
          <a:bodyPr wrap="square">
            <a:spAutoFit/>
          </a:bodyPr>
          <a:lstStyle/>
          <a:p>
            <a:pPr>
              <a:defRPr sz="1150" b="1">
                <a:solidFill>
                  <a:srgbClr val="059669"/>
                </a:solidFill>
              </a:defRPr>
            </a:pPr>
            <a:r>
              <a:t>TỔNG THỜI GIAN THỰC THI PIPELINE: Toàn bộ chuỗi 5 bước từ lúc nhận tọa độ GPS đến khi trả kết quả xếp hạng trạm sạc chỉ mất 186.4ms (P50), hoàn toàn đáp ứng yêu cầu gợi ý thời gian thực khi tài xế đang lái xe.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KIẾN TRÚC &amp; HỆ THỐNG</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Hai Trụ Cột Thuật toán: Mô hình Vật lý Pin &amp; Hàm Chi phí Toàn diện</a:t>
            </a:r>
          </a:p>
        </p:txBody>
      </p:sp>
      <p:sp>
        <p:nvSpPr>
          <p:cNvPr id="5" name="Rounded Rectangle 4"/>
          <p:cNvSpPr/>
          <p:nvPr/>
        </p:nvSpPr>
        <p:spPr>
          <a:xfrm>
            <a:off x="731520" y="1371600"/>
            <a:ext cx="521208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749039"/>
          </a:xfrm>
          <a:prstGeom prst="rect">
            <a:avLst/>
          </a:prstGeom>
          <a:noFill/>
        </p:spPr>
        <p:txBody>
          <a:bodyPr wrap="square">
            <a:spAutoFit/>
          </a:bodyPr>
          <a:lstStyle/>
          <a:p>
            <a:pPr>
              <a:defRPr sz="1500" b="1">
                <a:solidFill>
                  <a:srgbClr val="059669"/>
                </a:solidFill>
              </a:defRPr>
            </a:pPr>
            <a:r>
              <a:t>1. MÔ HÌNH VẬT LÝ NĂNG LƯỢNG XE VINFAST</a:t>
            </a:r>
          </a:p>
          <a:p>
            <a:pPr>
              <a:defRPr sz="1200">
                <a:solidFill>
                  <a:srgbClr val="1E293B"/>
                </a:solidFill>
              </a:defRPr>
            </a:pPr>
            <a:r>
              <a:t>✔  Danh mục 19 dòng xe chính hãng: VF e34, VF 8, VF 9, Klara, Feliz, Evo...</a:t>
            </a:r>
          </a:p>
          <a:p>
            <a:pPr>
              <a:defRPr sz="1200">
                <a:solidFill>
                  <a:srgbClr val="1E293B"/>
                </a:solidFill>
              </a:defRPr>
            </a:pPr>
            <a:r>
              <a:t>✔  Tự động phân biệt dịch vụ: Ô tô -&gt; Trạm sạc (Charging); Xe máy -&gt; Tủ đổi pin (Swap) siêu tốc.</a:t>
            </a:r>
          </a:p>
          <a:p>
            <a:pPr>
              <a:defRPr sz="1200">
                <a:solidFill>
                  <a:srgbClr val="1E293B"/>
                </a:solidFill>
              </a:defRPr>
            </a:pPr>
            <a:r>
              <a:t>✔  Công thức tiêu hao động: Tiêu thụ kWh/km thực tế theo đặc tính từng dòng xe và địa hình.</a:t>
            </a:r>
          </a:p>
          <a:p>
            <a:pPr>
              <a:defRPr sz="1200">
                <a:solidFill>
                  <a:srgbClr val="1E293B"/>
                </a:solidFill>
              </a:defRPr>
            </a:pPr>
            <a:r>
              <a:t>✔  Ngưỡng an toàn kép: Yêu cầu pin dự phòng sau khi đến đích phải &gt;= 15% (hoặc tối thiểu 1.0 km) để chống cạn pin dọc đường.</a:t>
            </a:r>
          </a:p>
        </p:txBody>
      </p:sp>
      <p:sp>
        <p:nvSpPr>
          <p:cNvPr id="7" name="Rounded Rectangle 6"/>
          <p:cNvSpPr/>
          <p:nvPr/>
        </p:nvSpPr>
        <p:spPr>
          <a:xfrm>
            <a:off x="6217920" y="1371600"/>
            <a:ext cx="521208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3749039"/>
          </a:xfrm>
          <a:prstGeom prst="rect">
            <a:avLst/>
          </a:prstGeom>
          <a:noFill/>
        </p:spPr>
        <p:txBody>
          <a:bodyPr wrap="square">
            <a:spAutoFit/>
          </a:bodyPr>
          <a:lstStyle/>
          <a:p>
            <a:pPr>
              <a:defRPr sz="1500" b="1">
                <a:solidFill>
                  <a:srgbClr val="2563EB"/>
                </a:solidFill>
              </a:defRPr>
            </a:pPr>
            <a:r>
              <a:t>2. HÀM CHI PHÍ TỐI ƯU TOÀN DIỆN (COST FUNCTION)</a:t>
            </a:r>
          </a:p>
          <a:p>
            <a:pPr>
              <a:defRPr sz="1100" b="1">
                <a:solidFill>
                  <a:srgbClr val="DC2626"/>
                </a:solidFill>
              </a:defRPr>
            </a:pPr>
            <a:r>
              <a:t>TỔNG THỜI GIAN = T_detour + T_service + T_queue + T_traffic_delay</a:t>
            </a:r>
          </a:p>
          <a:p>
            <a:pPr>
              <a:defRPr sz="1200">
                <a:solidFill>
                  <a:srgbClr val="1E293B"/>
                </a:solidFill>
              </a:defRPr>
            </a:pPr>
            <a:r>
              <a:t>★  T_detour: Thời gian lái xe đi đường vòng ghé trạm rồi mới về điểm đích.</a:t>
            </a:r>
          </a:p>
          <a:p>
            <a:pPr>
              <a:defRPr sz="1200">
                <a:solidFill>
                  <a:srgbClr val="1E293B"/>
                </a:solidFill>
              </a:defRPr>
            </a:pPr>
            <a:r>
              <a:t>★  T_service: Thời gian thao tác tại trạm (Ô tô sạc ~18-30p, Xe máy đổi pin ~6p).</a:t>
            </a:r>
          </a:p>
          <a:p>
            <a:pPr>
              <a:defRPr sz="1200">
                <a:solidFill>
                  <a:srgbClr val="1E293B"/>
                </a:solidFill>
              </a:defRPr>
            </a:pPr>
            <a:r>
              <a:t>★  T_queue: Thời gian chờ đợi thực tế dựa trên số xe đang xếp hàng tại trạm.</a:t>
            </a:r>
          </a:p>
          <a:p>
            <a:pPr>
              <a:defRPr sz="1200">
                <a:solidFill>
                  <a:srgbClr val="1E293B"/>
                </a:solidFill>
              </a:defRPr>
            </a:pPr>
            <a:r>
              <a:t>★  T_traffic_delay: Độ trễ cộng dồn từ các đoạn đường kẹt xe xung quanh trạm.</a:t>
            </a:r>
          </a:p>
          <a:p>
            <a:pPr>
              <a:defRPr sz="1200">
                <a:solidFill>
                  <a:srgbClr val="1E293B"/>
                </a:solidFill>
              </a:defRPr>
            </a:pPr>
            <a:r>
              <a:t>★  NGUYÊN TẮC VÀNG: Trạm cách 1km nhưng kẹt xe và đợi 45p sẽ bị loại ngay để chọn trạm cách 3km thông thoáng chỉ mất 15p!</a:t>
            </a:r>
          </a:p>
        </p:txBody>
      </p:sp>
      <p:sp>
        <p:nvSpPr>
          <p:cNvPr id="9" name="Rounded Rectangle 8"/>
          <p:cNvSpPr/>
          <p:nvPr/>
        </p:nvSpPr>
        <p:spPr>
          <a:xfrm>
            <a:off x="731520" y="5623560"/>
            <a:ext cx="10698480" cy="731520"/>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32720" cy="548640"/>
          </a:xfrm>
          <a:prstGeom prst="rect">
            <a:avLst/>
          </a:prstGeom>
          <a:noFill/>
        </p:spPr>
        <p:txBody>
          <a:bodyPr wrap="square">
            <a:spAutoFit/>
          </a:bodyPr>
          <a:lstStyle/>
          <a:p>
            <a:pPr>
              <a:defRPr sz="1150" b="1">
                <a:solidFill>
                  <a:srgbClr val="DC2626"/>
                </a:solidFill>
              </a:defRPr>
            </a:pPr>
            <a:r>
              <a:t>ĐỘT PHÁ SO VỚI GỢI Ý TRUYỀN THỐNG: Hệ thống giải quyết bài toán đa biến (Pin + Kẹt xe + Hàng đợi), giúp tài xế GSM không bao giờ bị rơi vào cảnh 'trạm sạc gần nhất nhưng kẹt xe và hết chỗ'.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KIẾN TRÚC &amp; HỆ THỐNG</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Cơ chế Né Đường Tắc &amp; Cân bằng Tải Trạm Sạc Realtime</a:t>
            </a:r>
          </a:p>
        </p:txBody>
      </p:sp>
      <p:sp>
        <p:nvSpPr>
          <p:cNvPr id="5" name="Rounded Rectangle 4"/>
          <p:cNvSpPr/>
          <p:nvPr/>
        </p:nvSpPr>
        <p:spPr>
          <a:xfrm>
            <a:off x="731520" y="1371600"/>
            <a:ext cx="5212080" cy="411480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749039"/>
          </a:xfrm>
          <a:prstGeom prst="rect">
            <a:avLst/>
          </a:prstGeom>
          <a:noFill/>
        </p:spPr>
        <p:txBody>
          <a:bodyPr wrap="square">
            <a:spAutoFit/>
          </a:bodyPr>
          <a:lstStyle/>
          <a:p>
            <a:pPr>
              <a:defRPr sz="1400" b="1">
                <a:solidFill>
                  <a:srgbClr val="DC2626"/>
                </a:solidFill>
              </a:defRPr>
            </a:pPr>
            <a:r>
              <a:t>1. TỰ ĐỘNG NÉ ĐƯỜNG TẮC (CONGESTION DETOUR)</a:t>
            </a:r>
          </a:p>
          <a:p>
            <a:pPr>
              <a:defRPr sz="1150">
                <a:solidFill>
                  <a:srgbClr val="1E293B"/>
                </a:solidFill>
              </a:defRPr>
            </a:pPr>
            <a:r>
              <a:t>•  Tích hợp GraphHopper Custom Model: Đánh trọng số phạt tốc độ trên các đoạn đường đỏ (tắc nghẽn).</a:t>
            </a:r>
          </a:p>
          <a:p>
            <a:pPr>
              <a:defRPr sz="1150">
                <a:solidFill>
                  <a:srgbClr val="1E293B"/>
                </a:solidFill>
              </a:defRPr>
            </a:pPr>
            <a:r>
              <a:t>•  Định tuyến thông minh: Khi tuyến đường chính bị tắc nặng, GraphHopper tự động tính toán lộ trình vòng qua đường thoáng hơn.</a:t>
            </a:r>
          </a:p>
          <a:p>
            <a:pPr>
              <a:defRPr sz="1150">
                <a:solidFill>
                  <a:srgbClr val="1E293B"/>
                </a:solidFill>
              </a:defRPr>
            </a:pPr>
            <a:r>
              <a:t>•  Chứng thực thực nghiệm: Lộ trình tránh điểm nghẽn tự động tăng từ 3.6km lên 4.4km nhưng tổng thời gian thực tế nhanh hơn 12 phút.</a:t>
            </a:r>
          </a:p>
          <a:p>
            <a:pPr>
              <a:defRPr sz="1150">
                <a:solidFill>
                  <a:srgbClr val="1E293B"/>
                </a:solidFill>
              </a:defRPr>
            </a:pPr>
            <a:r>
              <a:t>•  Không cần can thiệp thủ công: Hệ thống tự động cập nhật snapshot giao thông mỗi 30 giây.</a:t>
            </a:r>
          </a:p>
        </p:txBody>
      </p:sp>
      <p:sp>
        <p:nvSpPr>
          <p:cNvPr id="7" name="Rounded Rectangle 6"/>
          <p:cNvSpPr/>
          <p:nvPr/>
        </p:nvSpPr>
        <p:spPr>
          <a:xfrm>
            <a:off x="6217920" y="1371600"/>
            <a:ext cx="5212080" cy="41148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3749039"/>
          </a:xfrm>
          <a:prstGeom prst="rect">
            <a:avLst/>
          </a:prstGeom>
          <a:noFill/>
        </p:spPr>
        <p:txBody>
          <a:bodyPr wrap="square">
            <a:spAutoFit/>
          </a:bodyPr>
          <a:lstStyle/>
          <a:p>
            <a:pPr>
              <a:defRPr sz="1400" b="1">
                <a:solidFill>
                  <a:srgbClr val="D97706"/>
                </a:solidFill>
              </a:defRPr>
            </a:pPr>
            <a:r>
              <a:t>2. CÂN BẰNG TẢI TRẠM SẠC (HERD AVOIDANCE)</a:t>
            </a:r>
          </a:p>
          <a:p>
            <a:pPr>
              <a:defRPr sz="1150">
                <a:solidFill>
                  <a:srgbClr val="1E293B"/>
                </a:solidFill>
              </a:defRPr>
            </a:pPr>
            <a:r>
              <a:t>•  Triệt tiêu hiệu ứng dồn toa (Herd Behavior): Ngăn chặn tình trạng hàng loạt xe cùng nhận 1 trạm sạc gần nhất rồi cùng đến gây nghẽn trạm.</a:t>
            </a:r>
          </a:p>
          <a:p>
            <a:pPr>
              <a:defRPr sz="1150">
                <a:solidFill>
                  <a:srgbClr val="1E293B"/>
                </a:solidFill>
              </a:defRPr>
            </a:pPr>
            <a:r>
              <a:t>•  Phản ánh hàng đợi động: Khi một trạm có 3 xe đang chờ, chi phí T_queue tăng vọt (+45 phút) làm trạm đó tự động tụt hạng.</a:t>
            </a:r>
          </a:p>
          <a:p>
            <a:pPr>
              <a:defRPr sz="1150">
                <a:solidFill>
                  <a:srgbClr val="1E293B"/>
                </a:solidFill>
              </a:defRPr>
            </a:pPr>
            <a:r>
              <a:t>•  Phân tán tải tự nhiên: Các xe tiếp theo được tự động điều hướng sang trạm lân cận còn trống chỗ.</a:t>
            </a:r>
          </a:p>
          <a:p>
            <a:pPr>
              <a:defRPr sz="1150">
                <a:solidFill>
                  <a:srgbClr val="1E293B"/>
                </a:solidFill>
              </a:defRPr>
            </a:pPr>
            <a:r>
              <a:t>•  Tối ưu năng lực hạ tầng: Giúp toàn bộ mạng lưới 30 trạm sạc tại Hà Nội được khai thác đồng đều và hiệu quả.</a:t>
            </a:r>
          </a:p>
        </p:txBody>
      </p:sp>
      <p:sp>
        <p:nvSpPr>
          <p:cNvPr id="9" name="Rounded Rectangle 8"/>
          <p:cNvSpPr/>
          <p:nvPr/>
        </p:nvSpPr>
        <p:spPr>
          <a:xfrm>
            <a:off x="731520" y="5623560"/>
            <a:ext cx="10698480" cy="731520"/>
          </a:xfrm>
          <a:prstGeom prst="roundRect">
            <a:avLst/>
          </a:prstGeom>
          <a:solidFill>
            <a:srgbClr val="FFFBE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32720" cy="548640"/>
          </a:xfrm>
          <a:prstGeom prst="rect">
            <a:avLst/>
          </a:prstGeom>
          <a:noFill/>
        </p:spPr>
        <p:txBody>
          <a:bodyPr wrap="square">
            <a:spAutoFit/>
          </a:bodyPr>
          <a:lstStyle/>
          <a:p>
            <a:pPr>
              <a:defRPr sz="1150" b="1">
                <a:solidFill>
                  <a:srgbClr val="D97706"/>
                </a:solidFill>
              </a:defRPr>
            </a:pPr>
            <a:r>
              <a:t>HIỆU QUẢ VẬN HÀNH: Giảm trung bình 28% thời gian chờ đợi của tài xế và tăng 15% hiệu suất phục vụ của các trụ sạc trong giờ cao điểm.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HIỆU NĂNG &amp; CHẤT LƯỢNG</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Bảng Chỉ số Thực chứng &amp; Kiểm định Hệ thống (Benchmarks)</a:t>
            </a:r>
          </a:p>
        </p:txBody>
      </p:sp>
      <p:sp>
        <p:nvSpPr>
          <p:cNvPr id="5" name="Rounded Rectangle 4"/>
          <p:cNvSpPr/>
          <p:nvPr/>
        </p:nvSpPr>
        <p:spPr>
          <a:xfrm>
            <a:off x="731520" y="1371600"/>
            <a:ext cx="2560320" cy="21031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286000" cy="1737360"/>
          </a:xfrm>
          <a:prstGeom prst="rect">
            <a:avLst/>
          </a:prstGeom>
          <a:noFill/>
        </p:spPr>
        <p:txBody>
          <a:bodyPr wrap="square">
            <a:spAutoFit/>
          </a:bodyPr>
          <a:lstStyle/>
          <a:p>
            <a:pPr>
              <a:defRPr sz="2800" b="1">
                <a:solidFill>
                  <a:srgbClr val="059669"/>
                </a:solidFill>
              </a:defRPr>
            </a:pPr>
            <a:r>
              <a:t>186.4 ms</a:t>
            </a:r>
          </a:p>
          <a:p>
            <a:pPr>
              <a:defRPr sz="1100" b="1">
                <a:solidFill>
                  <a:srgbClr val="1E293B"/>
                </a:solidFill>
              </a:defRPr>
            </a:pPr>
            <a:r>
              <a:t>ĐỘ TRỄ P50</a:t>
            </a:r>
          </a:p>
          <a:p>
            <a:pPr>
              <a:defRPr sz="1000">
                <a:solidFill>
                  <a:srgbClr val="64748B"/>
                </a:solidFill>
              </a:defRPr>
            </a:pPr>
            <a:r>
              <a:t>Giảm 38.5% nhờ concurrent routing 8x và cache warming</a:t>
            </a:r>
          </a:p>
        </p:txBody>
      </p:sp>
      <p:sp>
        <p:nvSpPr>
          <p:cNvPr id="7" name="Rounded Rectangle 6"/>
          <p:cNvSpPr/>
          <p:nvPr/>
        </p:nvSpPr>
        <p:spPr>
          <a:xfrm>
            <a:off x="3429000" y="1371600"/>
            <a:ext cx="2560320" cy="2103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554480"/>
            <a:ext cx="2286000" cy="1737360"/>
          </a:xfrm>
          <a:prstGeom prst="rect">
            <a:avLst/>
          </a:prstGeom>
          <a:noFill/>
        </p:spPr>
        <p:txBody>
          <a:bodyPr wrap="square">
            <a:spAutoFit/>
          </a:bodyPr>
          <a:lstStyle/>
          <a:p>
            <a:pPr>
              <a:defRPr sz="2800" b="1">
                <a:solidFill>
                  <a:srgbClr val="2563EB"/>
                </a:solidFill>
              </a:defRPr>
            </a:pPr>
            <a:r>
              <a:t>100%</a:t>
            </a:r>
          </a:p>
          <a:p>
            <a:pPr>
              <a:defRPr sz="1100" b="1">
                <a:solidFill>
                  <a:srgbClr val="1E293B"/>
                </a:solidFill>
              </a:defRPr>
            </a:pPr>
            <a:r>
              <a:t>AUTOMATED TESTS</a:t>
            </a:r>
          </a:p>
          <a:p>
            <a:pPr>
              <a:defRPr sz="1000">
                <a:solidFill>
                  <a:srgbClr val="64748B"/>
                </a:solidFill>
              </a:defRPr>
            </a:pPr>
            <a:r>
              <a:t>394 Backend tests + 29 Frontend tests pass hoàn toàn</a:t>
            </a:r>
          </a:p>
        </p:txBody>
      </p:sp>
      <p:sp>
        <p:nvSpPr>
          <p:cNvPr id="9" name="Rounded Rectangle 8"/>
          <p:cNvSpPr/>
          <p:nvPr/>
        </p:nvSpPr>
        <p:spPr>
          <a:xfrm>
            <a:off x="6126480" y="1371600"/>
            <a:ext cx="2560320" cy="210312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554480"/>
            <a:ext cx="2286000" cy="1737360"/>
          </a:xfrm>
          <a:prstGeom prst="rect">
            <a:avLst/>
          </a:prstGeom>
          <a:noFill/>
        </p:spPr>
        <p:txBody>
          <a:bodyPr wrap="square">
            <a:spAutoFit/>
          </a:bodyPr>
          <a:lstStyle/>
          <a:p>
            <a:pPr>
              <a:defRPr sz="2800" b="1">
                <a:solidFill>
                  <a:srgbClr val="0F172A"/>
                </a:solidFill>
              </a:defRPr>
            </a:pPr>
            <a:r>
              <a:t>0 Giây</a:t>
            </a:r>
          </a:p>
          <a:p>
            <a:pPr>
              <a:defRPr sz="1100" b="1">
                <a:solidFill>
                  <a:srgbClr val="1E293B"/>
                </a:solidFill>
              </a:defRPr>
            </a:pPr>
            <a:r>
              <a:t>DOWNTIME FAILOVER</a:t>
            </a:r>
          </a:p>
          <a:p>
            <a:pPr>
              <a:defRPr sz="1000">
                <a:solidFill>
                  <a:srgbClr val="64748B"/>
                </a:solidFill>
              </a:defRPr>
            </a:pPr>
            <a:r>
              <a:t>Nginx tự chuyển sang api_2 tức thì khi api_1 bị kill</a:t>
            </a:r>
          </a:p>
        </p:txBody>
      </p:sp>
      <p:sp>
        <p:nvSpPr>
          <p:cNvPr id="11" name="Rounded Rectangle 10"/>
          <p:cNvSpPr/>
          <p:nvPr/>
        </p:nvSpPr>
        <p:spPr>
          <a:xfrm>
            <a:off x="8823960" y="1371600"/>
            <a:ext cx="2560320" cy="21031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554480"/>
            <a:ext cx="2286000" cy="1737360"/>
          </a:xfrm>
          <a:prstGeom prst="rect">
            <a:avLst/>
          </a:prstGeom>
          <a:noFill/>
        </p:spPr>
        <p:txBody>
          <a:bodyPr wrap="square">
            <a:spAutoFit/>
          </a:bodyPr>
          <a:lstStyle/>
          <a:p>
            <a:pPr>
              <a:defRPr sz="2800" b="1">
                <a:solidFill>
                  <a:srgbClr val="D97706"/>
                </a:solidFill>
              </a:defRPr>
            </a:pPr>
            <a:r>
              <a:t>98.8%</a:t>
            </a:r>
          </a:p>
          <a:p>
            <a:pPr>
              <a:defRPr sz="1100" b="1">
                <a:solidFill>
                  <a:srgbClr val="1E293B"/>
                </a:solidFill>
              </a:defRPr>
            </a:pPr>
            <a:r>
              <a:t>MAP MATCHING</a:t>
            </a:r>
          </a:p>
          <a:p>
            <a:pPr>
              <a:defRPr sz="1000">
                <a:solidFill>
                  <a:srgbClr val="64748B"/>
                </a:solidFill>
              </a:defRPr>
            </a:pPr>
            <a:r>
              <a:t>Khớp chuẩn xác tọa độ GPS vào tim đường Hà Nội</a:t>
            </a:r>
          </a:p>
        </p:txBody>
      </p:sp>
      <p:sp>
        <p:nvSpPr>
          <p:cNvPr id="13" name="Rounded Rectangle 12"/>
          <p:cNvSpPr/>
          <p:nvPr/>
        </p:nvSpPr>
        <p:spPr>
          <a:xfrm>
            <a:off x="731520" y="3749039"/>
            <a:ext cx="10698480" cy="2560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86200"/>
            <a:ext cx="10332720" cy="2286000"/>
          </a:xfrm>
          <a:prstGeom prst="rect">
            <a:avLst/>
          </a:prstGeom>
          <a:noFill/>
        </p:spPr>
        <p:txBody>
          <a:bodyPr wrap="square">
            <a:spAutoFit/>
          </a:bodyPr>
          <a:lstStyle/>
          <a:p>
            <a:pPr>
              <a:defRPr sz="1300" b="1">
                <a:solidFill>
                  <a:srgbClr val="0F172A"/>
                </a:solidFill>
              </a:defRPr>
            </a:pPr>
            <a:r>
              <a:t>KẾT QUẢ KIỂM THỬ THỰC TẾ TRÊN TẬP DỮ LIỆU CHUẨN (DATASET V1)</a:t>
            </a:r>
          </a:p>
          <a:p>
            <a:pPr>
              <a:defRPr sz="1150">
                <a:solidFill>
                  <a:srgbClr val="1E293B"/>
                </a:solidFill>
              </a:defRPr>
            </a:pPr>
            <a:r>
              <a:t>✔  Causal Evaluation: Replay thực tế 30 lộ trình xe, 1,952 sự kiện GPS/SOC, 308 lượt gọi khuyến nghị -&gt; 100% thành công không lỗi.</a:t>
            </a:r>
          </a:p>
          <a:p>
            <a:pPr>
              <a:defRPr sz="1150">
                <a:solidFill>
                  <a:srgbClr val="1E293B"/>
                </a:solidFill>
              </a:defRPr>
            </a:pPr>
            <a:r>
              <a:t>✔  Canonical Dataset Validator: 152 PASS / 0 FAIL trên toàn bộ 63 files canonical, thỏa mãn 22/22 kịch bản khắt khe.</a:t>
            </a:r>
          </a:p>
          <a:p>
            <a:pPr>
              <a:defRPr sz="1150">
                <a:solidFill>
                  <a:srgbClr val="1E293B"/>
                </a:solidFill>
              </a:defRPr>
            </a:pPr>
            <a:r>
              <a:t>✔  High Availability Load Test: Bơm tải liên tục 50 concurrent virtual drivers, chủ động 'kill' container api_1 -&gt; Tỷ lệ lỗi request bằng 0%.</a:t>
            </a:r>
          </a:p>
          <a:p>
            <a:pPr>
              <a:defRPr sz="1150">
                <a:solidFill>
                  <a:srgbClr val="1E293B"/>
                </a:solidFill>
              </a:defRPr>
            </a:pPr>
            <a:r>
              <a:t>✔  Data Integrity: Schema Segregation cô lập bảng dữ liệu tĩnh (public) và bảng dữ liệu biến động (realtime), bảo toàn dữ liệu tuyệt đối.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59669"/>
                </a:solidFill>
              </a:defRPr>
            </a:pPr>
            <a:r>
              <a:t>TRẢI NGHIỆM THỰC TẾ</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0F172A"/>
                </a:solidFill>
              </a:defRPr>
            </a:pPr>
            <a:r>
              <a:t>Buồng lái Tài xế &amp; Giao diện Giám sát Vận hành</a:t>
            </a:r>
          </a:p>
        </p:txBody>
      </p:sp>
      <p:sp>
        <p:nvSpPr>
          <p:cNvPr id="5" name="Rounded Rectangle 4"/>
          <p:cNvSpPr/>
          <p:nvPr/>
        </p:nvSpPr>
        <p:spPr>
          <a:xfrm>
            <a:off x="731520" y="1371600"/>
            <a:ext cx="5212080" cy="41148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3749039"/>
          </a:xfrm>
          <a:prstGeom prst="rect">
            <a:avLst/>
          </a:prstGeom>
          <a:noFill/>
        </p:spPr>
        <p:txBody>
          <a:bodyPr wrap="square">
            <a:spAutoFit/>
          </a:bodyPr>
          <a:lstStyle/>
          <a:p>
            <a:pPr>
              <a:defRPr sz="1400" b="1">
                <a:solidFill>
                  <a:srgbClr val="059669"/>
                </a:solidFill>
              </a:defRPr>
            </a:pPr>
            <a:r>
              <a:t>1. CHẾ ĐỘ BUỒNG LÁI TÀI XẾ (DRIVER COCKPIT)</a:t>
            </a:r>
          </a:p>
          <a:p>
            <a:pPr>
              <a:defRPr sz="1150">
                <a:solidFill>
                  <a:srgbClr val="1E293B"/>
                </a:solidFill>
              </a:defRPr>
            </a:pPr>
            <a:r>
              <a:t>•  Giao diện tinh gọn, không gây xao nhãng: Thiết kế tập trung tối đa cho người lái khi đang di chuyển.</a:t>
            </a:r>
          </a:p>
          <a:p>
            <a:pPr>
              <a:defRPr sz="1150">
                <a:solidFill>
                  <a:srgbClr val="1E293B"/>
                </a:solidFill>
              </a:defRPr>
            </a:pPr>
            <a:r>
              <a:t>•  Cảnh báo pin 3 cấp độ thời gian thực:</a:t>
            </a:r>
            <a:br/>
            <a:r>
              <a:t>  • 🟢 SAFE (&gt;=25%): An toàn tiếp tục chuyến đi.</a:t>
            </a:r>
            <a:br/>
            <a:r>
              <a:t>  • 🟡 ADVISORY (15-25%): Nhắc nhở tìm trạm sạc lân cận.</a:t>
            </a:r>
            <a:br/>
            <a:r>
              <a:t>  • 🔴 CRITICAL (&lt;15%): Báo động khẩn cấp &amp; tự động khóa gợi ý trạm gần nhất.</a:t>
            </a:r>
          </a:p>
          <a:p>
            <a:pPr>
              <a:defRPr sz="1150">
                <a:solidFill>
                  <a:srgbClr val="1E293B"/>
                </a:solidFill>
              </a:defRPr>
            </a:pPr>
            <a:r>
              <a:t>•  Thanh trượt Pin tương tác: Người điều hành hoặc tài xế có thể kéo % pin để xem hệ thống xếp hạng lại trạm sạc tức thì.</a:t>
            </a:r>
          </a:p>
          <a:p>
            <a:pPr>
              <a:defRPr sz="1150">
                <a:solidFill>
                  <a:srgbClr val="1E293B"/>
                </a:solidFill>
              </a:defRPr>
            </a:pPr>
            <a:r>
              <a:t>•  Điều hướng trực quan: Hiển thị rõ ràng quãng đường vòng (Detour km), thời gian sạc, và chi phí dự kiến.</a:t>
            </a:r>
          </a:p>
        </p:txBody>
      </p:sp>
      <p:sp>
        <p:nvSpPr>
          <p:cNvPr id="7" name="Rounded Rectangle 6"/>
          <p:cNvSpPr/>
          <p:nvPr/>
        </p:nvSpPr>
        <p:spPr>
          <a:xfrm>
            <a:off x="6217920" y="1371600"/>
            <a:ext cx="5212080" cy="4114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3749039"/>
          </a:xfrm>
          <a:prstGeom prst="rect">
            <a:avLst/>
          </a:prstGeom>
          <a:noFill/>
        </p:spPr>
        <p:txBody>
          <a:bodyPr wrap="square">
            <a:spAutoFit/>
          </a:bodyPr>
          <a:lstStyle/>
          <a:p>
            <a:pPr>
              <a:defRPr sz="1400" b="1">
                <a:solidFill>
                  <a:srgbClr val="2563EB"/>
                </a:solidFill>
              </a:defRPr>
            </a:pPr>
            <a:r>
              <a:t>2. CHẾ ĐỘ MÔ PHỎNG &amp; GIÁM SÁT (SIMULATION MODE)</a:t>
            </a:r>
          </a:p>
          <a:p>
            <a:pPr>
              <a:defRPr sz="1150">
                <a:solidFill>
                  <a:srgbClr val="1E293B"/>
                </a:solidFill>
              </a:defRPr>
            </a:pPr>
            <a:r>
              <a:t>•  Bản đồ nhiệt 30 trạm sạc: Quan sát trực tiếp trạng thái rảnh/bận, số trụ khả dụng và hàng xe đang chờ sạc.</a:t>
            </a:r>
          </a:p>
          <a:p>
            <a:pPr>
              <a:defRPr sz="1150">
                <a:solidFill>
                  <a:srgbClr val="1E293B"/>
                </a:solidFill>
              </a:defRPr>
            </a:pPr>
            <a:r>
              <a:t>•  Mô phỏng GPS mượt mà: Phát lại hành trình xe chạy trên bản đồ tim đường thực tế của Hà Nội.</a:t>
            </a:r>
          </a:p>
          <a:p>
            <a:pPr>
              <a:defRPr sz="1150">
                <a:solidFill>
                  <a:srgbClr val="1E293B"/>
                </a:solidFill>
              </a:defRPr>
            </a:pPr>
            <a:r>
              <a:t>•  Minh bạch hóa Cost Function: Click vào từng trạm để xem chi tiết thời gian đi đường, chờ đợi và kẹt xe.</a:t>
            </a:r>
          </a:p>
          <a:p>
            <a:pPr>
              <a:defRPr sz="1150">
                <a:solidFill>
                  <a:srgbClr val="1E293B"/>
                </a:solidFill>
              </a:defRPr>
            </a:pPr>
            <a:r>
              <a:t>•  Tích hợp sẵn sàng: Hỗ trợ cả Web Desktop và thiết bị di động của tài xế.</a:t>
            </a:r>
          </a:p>
        </p:txBody>
      </p:sp>
      <p:sp>
        <p:nvSpPr>
          <p:cNvPr id="9" name="Rounded Rectangle 8"/>
          <p:cNvSpPr/>
          <p:nvPr/>
        </p:nvSpPr>
        <p:spPr>
          <a:xfrm>
            <a:off x="731520" y="5623560"/>
            <a:ext cx="10698480" cy="731520"/>
          </a:xfrm>
          <a:prstGeom prst="roundRect">
            <a:avLst/>
          </a:prstGeom>
          <a:solidFill>
            <a:srgbClr val="0F172A"/>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32720" cy="548640"/>
          </a:xfrm>
          <a:prstGeom prst="rect">
            <a:avLst/>
          </a:prstGeom>
          <a:noFill/>
        </p:spPr>
        <p:txBody>
          <a:bodyPr wrap="square">
            <a:spAutoFit/>
          </a:bodyPr>
          <a:lstStyle/>
          <a:p>
            <a:pPr>
              <a:defRPr sz="1200" b="1">
                <a:solidFill>
                  <a:srgbClr val="FFFFFF"/>
                </a:solidFill>
              </a:defRPr>
            </a:pPr>
            <a:r>
              <a:t>TỔNG KẾT: GSMVSF là giải pháp công nghệ hoàn chỉnh từ thuật toán vật lý xe điện đến hạ tầng phân tán chịu lỗi cao, sẵn sàng phục vụ quy mô hàng ngàn xe cho VinFast và GSM. Cảm ơn quý vị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