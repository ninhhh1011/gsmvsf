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Tổng quan Tech Stack hệ thống GSMVSF.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Kiến trúc 3 tầng, phân tách Nginx, cụm FastAPI kép và storage PostGIS/Redis/GraphHopper.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Pipeline 5 bước từ lúc nhận GPS đến khi trả về Top-1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GraphHopper Custom Model né kẹt xe, đi xa hơn 800m nhưng nhanh hơn 12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Cơ chế chịu lỗi HA, khóa CAS trên Redis và phân vùng Schema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GSMVSF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Realtime EV Recommendation</a:t>
            </a:r>
            <a:br/>
            <a:r>
              <a:t>&amp; Dynamic Routing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Kiến trúc kỹ thuật &amp; Luồng xử lý dữ liệu thời gian thực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560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Nginx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Port 3000 • Failover 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937760"/>
            <a:ext cx="2560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51663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FastAPI Dual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Ports 8000 &amp; 8002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937760"/>
            <a:ext cx="2560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663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GraphHopper 11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Port 8989 • Routing 8x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4937760"/>
            <a:ext cx="2560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51663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PostGIS &amp; Redis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Ports 5432 &amp; 6379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HẠ TẦNG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Kiến trúc Hệ thống 3 Tầng &amp; Giao thức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280160"/>
            <a:ext cx="4327855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39620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TIER 1: NGINX PROXY (:3000)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Cân bằng tải least_conn • Failover tức thì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121408"/>
            <a:ext cx="32004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486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TIER 2: CỤM FASTAPI STATELESS (DUAL REPLICAS)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50292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ev_api_1 (:8000)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In-Process Engine • Simulator giao thông (30s)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34640"/>
            <a:ext cx="50292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ev_api_2 (:8002)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In-Process Engine • Standby Failover 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134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3047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POSTGRESQL 16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Port 5432 • asyncpg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Schema public &amp; realtime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14800"/>
            <a:ext cx="34134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047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REDIS 7.4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Port 6379 • RESP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L1 Cache &amp; Khóa 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4134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97680"/>
            <a:ext cx="3047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GRAPHHOPPER 11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Port 8989 • HTTP REST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Routing 8x &amp; Custom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16168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⚡ Chịu lỗi HA: api_1 sập -&gt; Nginx tự chuyển sang api_2 tức thì (0s Downtime).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LUỒNG 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Luồng Xử lý Dữ liệu Realtime (5 Bước)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5041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67609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MAP MATCH</a:t>
            </a:r>
          </a:p>
          <a:p/>
          <a:p>
            <a:pPr>
              <a:defRPr sz="1350" b="1">
                <a:solidFill>
                  <a:srgbClr val="0F172A"/>
                </a:solidFill>
              </a:defRPr>
            </a:pPr>
            <a:r>
              <a:t>GPS -&gt; Tim đường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PostGIS (10s / 50m)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195041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737360"/>
            <a:ext cx="167609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2. DEMAND</a:t>
            </a:r>
          </a:p>
          <a:p/>
          <a:p>
            <a:pPr>
              <a:defRPr sz="1350" b="1">
                <a:solidFill>
                  <a:srgbClr val="0F172A"/>
                </a:solidFill>
              </a:defRPr>
            </a:pPr>
            <a:r>
              <a:t>19 Dòng xe VF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Pin tới đích &gt;=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195041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737360"/>
            <a:ext cx="167609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LỌC TRẠM</a:t>
            </a:r>
          </a:p>
          <a:p/>
          <a:p>
            <a:pPr>
              <a:defRPr sz="1350" b="1">
                <a:solidFill>
                  <a:srgbClr val="0F172A"/>
                </a:solidFill>
              </a:defRPr>
            </a:pPr>
            <a:r>
              <a:t>Quét 30 Trạm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Chuẩn cổng &amp; pin đổi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195041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737360"/>
            <a:ext cx="167609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4. ROUTING 8X</a:t>
            </a:r>
          </a:p>
          <a:p/>
          <a:p>
            <a:pPr>
              <a:defRPr sz="1350" b="1">
                <a:solidFill>
                  <a:srgbClr val="0F172A"/>
                </a:solidFill>
              </a:defRPr>
            </a:pPr>
            <a:r>
              <a:t>GraphHopper 11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Xe -&gt; Trạm -&gt; Đích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463040"/>
            <a:ext cx="195041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737360"/>
            <a:ext cx="167609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5. RANKING</a:t>
            </a:r>
          </a:p>
          <a:p/>
          <a:p>
            <a:pPr>
              <a:defRPr sz="1350" b="1">
                <a:solidFill>
                  <a:srgbClr val="0F172A"/>
                </a:solidFill>
              </a:defRPr>
            </a:pPr>
            <a:r>
              <a:t>Tối ưu Thời gian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Top-1 Khuyến nghị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81935" y="3291840"/>
            <a:ext cx="237744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876495" y="3291840"/>
            <a:ext cx="237744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071055" y="3291840"/>
            <a:ext cx="237744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265615" y="3291840"/>
            <a:ext cx="237744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916168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⏱️ Tổng độ trễ pipeline: 186.4ms (P50) cho toàn bộ 5 bước.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ĐỊNH TUYẾN THÔNG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Né Đường Tắc (GraphHopper Custom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480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TUYẾN TRỰC TIẾP</a:t>
            </a:r>
          </a:p>
          <a:p/>
          <a:p>
            <a:pPr>
              <a:defRPr sz="1400" b="1">
                <a:solidFill>
                  <a:srgbClr val="0F172A"/>
                </a:solidFill>
              </a:defRPr>
            </a:pPr>
            <a:r>
              <a:t>• Quãng đường: 3.6 km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Trạng thái: Dính tắc đường Đê La Thành</a:t>
            </a:r>
          </a:p>
          <a:p>
            <a:pPr>
              <a:defRPr sz="1500" b="1">
                <a:solidFill>
                  <a:srgbClr val="DC2626"/>
                </a:solidFill>
              </a:defRPr>
            </a:pPr>
            <a:r>
              <a:t>• Thời gian: 32 phút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737360"/>
            <a:ext cx="4480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TUYẾN VÒNG TRÁNH (CUSTOM MODEL)</a:t>
            </a:r>
          </a:p>
          <a:p/>
          <a:p>
            <a:pPr>
              <a:defRPr sz="1400" b="1">
                <a:solidFill>
                  <a:srgbClr val="0F172A"/>
                </a:solidFill>
              </a:defRPr>
            </a:pPr>
            <a:r>
              <a:t>• Quãng đường: 4.4 km (+800m)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Trạng thái: Tự bẻ lái sang đường thoáng</a:t>
            </a:r>
          </a:p>
          <a:p>
            <a:pPr>
              <a:defRPr sz="1500" b="1">
                <a:solidFill>
                  <a:srgbClr val="059669"/>
                </a:solidFill>
              </a:defRPr>
            </a:pPr>
            <a:r>
              <a:t>• Thời gian: 20 phút (Nhanh hơn 12 phút!)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16168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🚦 Cơ chế: GraphHopper phạt trọng số đường đỏ tại runtime -&gt; Tự bẻ lái né tắc.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ĐỘ TIN CẬY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Quản lý Trạng thái &amp; Chịu Lỗi 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345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5625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NGINX FAILOVER (0s)</a:t>
            </a:r>
          </a:p>
          <a:p/>
          <a:p>
            <a:pPr>
              <a:defRPr sz="1400" b="1">
                <a:solidFill>
                  <a:srgbClr val="0F172A"/>
                </a:solidFill>
              </a:defRPr>
            </a:pPr>
            <a:r>
              <a:t>api_1 sập -&gt; Chuyển sang api_2 tức thì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proxy_next_upstream error timeout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5625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REDIS KHÓA CAS</a:t>
            </a:r>
          </a:p>
          <a:p/>
          <a:p>
            <a:pPr>
              <a:defRPr sz="1400" b="1">
                <a:solidFill>
                  <a:srgbClr val="0F172A"/>
                </a:solidFill>
              </a:defRPr>
            </a:pPr>
            <a:r>
              <a:t>Chống xung đột đa replica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expected_version &amp; generation_id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625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34155"/>
                </a:solidFill>
              </a:defRPr>
            </a:pPr>
            <a:r>
              <a:t>POSTGRES SCHEMAS</a:t>
            </a:r>
          </a:p>
          <a:p/>
          <a:p>
            <a:pPr>
              <a:defRPr sz="1400" b="1">
                <a:solidFill>
                  <a:srgbClr val="0F172A"/>
                </a:solidFill>
              </a:defRPr>
            </a:pPr>
            <a:r>
              <a:t>Tách dữ liệu tĩnh và biến động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public (OSM) vs realtime (Snapshots)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16168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🛡️ Zero Single Point of Failure: Hệ thống không có điểm chết đơn lẻ.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